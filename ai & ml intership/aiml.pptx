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63" r:id="rId3"/>
    <p:sldId id="267" r:id="rId4"/>
    <p:sldId id="257" r:id="rId5"/>
    <p:sldId id="258" r:id="rId6"/>
    <p:sldId id="259" r:id="rId7"/>
    <p:sldId id="260" r:id="rId8"/>
    <p:sldId id="261" r:id="rId9"/>
    <p:sldId id="264" r:id="rId10"/>
    <p:sldId id="262" r:id="rId11"/>
    <p:sldId id="265" r:id="rId12"/>
    <p:sldId id="266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5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2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8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35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08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9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1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78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75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97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87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B800852-B15B-4260-B071-B36745859C9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ABC45D37-D1F7-4D96-9D0E-FD621AC67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22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C812-DB6D-E77F-BC4E-1B84BECF2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7" y="2235200"/>
            <a:ext cx="9144000" cy="2387600"/>
          </a:xfrm>
        </p:spPr>
        <p:txBody>
          <a:bodyPr numCol="2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9E0E-4699-CBA1-E46C-FC2C328E0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360" y="2958670"/>
            <a:ext cx="7945198" cy="940660"/>
          </a:xfrm>
        </p:spPr>
        <p:txBody>
          <a:bodyPr/>
          <a:lstStyle/>
          <a:p>
            <a:r>
              <a:rPr lang="en-IN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6292499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7554-B86E-D1EF-798F-E2FDA54A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endParaRPr lang="en-IN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EE6AB-63D8-6870-8048-F364B63D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109" y="2702124"/>
            <a:ext cx="4341418" cy="37095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45721D-3E31-56D6-B28B-2A45031B1590}"/>
              </a:ext>
            </a:extLst>
          </p:cNvPr>
          <p:cNvSpPr txBox="1"/>
          <p:nvPr/>
        </p:nvSpPr>
        <p:spPr>
          <a:xfrm>
            <a:off x="4357006" y="1301819"/>
            <a:ext cx="7083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Artificial Intelligence (AI) refers to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of human intelligence in machines that are programmed to think and act like humans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46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F83D-7DA0-B208-C6F2-73FF63DB7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12" y="1001487"/>
            <a:ext cx="2946045" cy="4887684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 AI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683DB4-B8F3-32BA-F812-AF55473AC308}"/>
              </a:ext>
            </a:extLst>
          </p:cNvPr>
          <p:cNvGrpSpPr/>
          <p:nvPr/>
        </p:nvGrpSpPr>
        <p:grpSpPr>
          <a:xfrm>
            <a:off x="4725864" y="1143901"/>
            <a:ext cx="5176161" cy="4343054"/>
            <a:chOff x="3219448" y="1783634"/>
            <a:chExt cx="5176161" cy="43430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B7D8E76-8E83-40A6-36FB-000F6EDB7434}"/>
                </a:ext>
              </a:extLst>
            </p:cNvPr>
            <p:cNvSpPr/>
            <p:nvPr/>
          </p:nvSpPr>
          <p:spPr>
            <a:xfrm>
              <a:off x="4669969" y="1783634"/>
              <a:ext cx="2329543" cy="50074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AI Types</a:t>
              </a:r>
              <a:endPara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226E821-136F-148D-A49F-A68BF166775A}"/>
                </a:ext>
              </a:extLst>
            </p:cNvPr>
            <p:cNvGrpSpPr/>
            <p:nvPr/>
          </p:nvGrpSpPr>
          <p:grpSpPr>
            <a:xfrm>
              <a:off x="3219448" y="1988572"/>
              <a:ext cx="5176161" cy="4138116"/>
              <a:chOff x="2762249" y="1857943"/>
              <a:chExt cx="5176161" cy="4138116"/>
            </a:xfrm>
          </p:grpSpPr>
          <p:sp>
            <p:nvSpPr>
              <p:cNvPr id="22" name="Arrow: Bent 21">
                <a:extLst>
                  <a:ext uri="{FF2B5EF4-FFF2-40B4-BE49-F238E27FC236}">
                    <a16:creationId xmlns:a16="http://schemas.microsoft.com/office/drawing/2014/main" id="{CEB3B64E-EFBA-A3A2-5EF7-8FCD6391C751}"/>
                  </a:ext>
                </a:extLst>
              </p:cNvPr>
              <p:cNvSpPr/>
              <p:nvPr/>
            </p:nvSpPr>
            <p:spPr>
              <a:xfrm rot="5400000">
                <a:off x="6291941" y="2130087"/>
                <a:ext cx="1061360" cy="517071"/>
              </a:xfrm>
              <a:prstGeom prst="bentArrow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5" name="Arrow: Bent 24">
                <a:extLst>
                  <a:ext uri="{FF2B5EF4-FFF2-40B4-BE49-F238E27FC236}">
                    <a16:creationId xmlns:a16="http://schemas.microsoft.com/office/drawing/2014/main" id="{315770B1-6840-C3E8-3D7F-36CD94931C6A}"/>
                  </a:ext>
                </a:extLst>
              </p:cNvPr>
              <p:cNvSpPr/>
              <p:nvPr/>
            </p:nvSpPr>
            <p:spPr>
              <a:xfrm rot="5400000" flipV="1">
                <a:off x="3412670" y="2130087"/>
                <a:ext cx="1061360" cy="517071"/>
              </a:xfrm>
              <a:prstGeom prst="bentArrow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D0604D6-A655-1C67-098D-57313DCAA5F7}"/>
                  </a:ext>
                </a:extLst>
              </p:cNvPr>
              <p:cNvSpPr/>
              <p:nvPr/>
            </p:nvSpPr>
            <p:spPr>
              <a:xfrm>
                <a:off x="2762249" y="2919303"/>
                <a:ext cx="1845129" cy="38406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Capability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7B5816B-ED3C-9E16-0263-210AE4962E12}"/>
                  </a:ext>
                </a:extLst>
              </p:cNvPr>
              <p:cNvSpPr/>
              <p:nvPr/>
            </p:nvSpPr>
            <p:spPr>
              <a:xfrm>
                <a:off x="6093281" y="2919305"/>
                <a:ext cx="1845129" cy="38406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functionality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68BEAB2-2C65-DF24-8BD5-46B8FEB54315}"/>
                  </a:ext>
                </a:extLst>
              </p:cNvPr>
              <p:cNvGrpSpPr/>
              <p:nvPr/>
            </p:nvGrpSpPr>
            <p:grpSpPr>
              <a:xfrm>
                <a:off x="2762249" y="3346914"/>
                <a:ext cx="381001" cy="2179077"/>
                <a:chOff x="2762249" y="3346914"/>
                <a:chExt cx="381001" cy="2179077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514AC06-64F1-E684-AEA6-3134831C0C81}"/>
                    </a:ext>
                  </a:extLst>
                </p:cNvPr>
                <p:cNvSpPr/>
                <p:nvPr/>
              </p:nvSpPr>
              <p:spPr>
                <a:xfrm>
                  <a:off x="2762249" y="3346914"/>
                  <a:ext cx="89808" cy="2117716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3" name="Arrow: Right 32">
                  <a:extLst>
                    <a:ext uri="{FF2B5EF4-FFF2-40B4-BE49-F238E27FC236}">
                      <a16:creationId xmlns:a16="http://schemas.microsoft.com/office/drawing/2014/main" id="{07C0D273-B371-04D6-1DFC-AE93335D658F}"/>
                    </a:ext>
                  </a:extLst>
                </p:cNvPr>
                <p:cNvSpPr/>
                <p:nvPr/>
              </p:nvSpPr>
              <p:spPr>
                <a:xfrm>
                  <a:off x="2786741" y="3864433"/>
                  <a:ext cx="356506" cy="300844"/>
                </a:xfrm>
                <a:prstGeom prst="rightArrow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Arrow: Right 33">
                  <a:extLst>
                    <a:ext uri="{FF2B5EF4-FFF2-40B4-BE49-F238E27FC236}">
                      <a16:creationId xmlns:a16="http://schemas.microsoft.com/office/drawing/2014/main" id="{D9F57B1A-F1E3-6271-29A2-6963EAE3035E}"/>
                    </a:ext>
                  </a:extLst>
                </p:cNvPr>
                <p:cNvSpPr/>
                <p:nvPr/>
              </p:nvSpPr>
              <p:spPr>
                <a:xfrm>
                  <a:off x="2786741" y="4517578"/>
                  <a:ext cx="356506" cy="300844"/>
                </a:xfrm>
                <a:prstGeom prst="rightArrow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" name="Arrow: Right 34">
                  <a:extLst>
                    <a:ext uri="{FF2B5EF4-FFF2-40B4-BE49-F238E27FC236}">
                      <a16:creationId xmlns:a16="http://schemas.microsoft.com/office/drawing/2014/main" id="{70D09066-BABD-A270-CDC1-DFA5E360C8B3}"/>
                    </a:ext>
                  </a:extLst>
                </p:cNvPr>
                <p:cNvSpPr/>
                <p:nvPr/>
              </p:nvSpPr>
              <p:spPr>
                <a:xfrm>
                  <a:off x="2786744" y="5225147"/>
                  <a:ext cx="356506" cy="300844"/>
                </a:xfrm>
                <a:prstGeom prst="rightArrow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EE16834-2733-7AEC-A01F-4C2D29726D83}"/>
                  </a:ext>
                </a:extLst>
              </p:cNvPr>
              <p:cNvSpPr/>
              <p:nvPr/>
            </p:nvSpPr>
            <p:spPr>
              <a:xfrm>
                <a:off x="3143246" y="3828751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Narrow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E73BDE9-317F-57BC-C36D-E75603BCC85D}"/>
                  </a:ext>
                </a:extLst>
              </p:cNvPr>
              <p:cNvSpPr/>
              <p:nvPr/>
            </p:nvSpPr>
            <p:spPr>
              <a:xfrm>
                <a:off x="3143245" y="4524508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General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33A5BFD-37B4-33E3-B4C7-7AEA40C01181}"/>
                  </a:ext>
                </a:extLst>
              </p:cNvPr>
              <p:cNvSpPr/>
              <p:nvPr/>
            </p:nvSpPr>
            <p:spPr>
              <a:xfrm>
                <a:off x="3154134" y="5200353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Super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2A91569-0596-059F-978F-103633F1D95F}"/>
                  </a:ext>
                </a:extLst>
              </p:cNvPr>
              <p:cNvSpPr/>
              <p:nvPr/>
            </p:nvSpPr>
            <p:spPr>
              <a:xfrm flipH="1">
                <a:off x="7828718" y="3348895"/>
                <a:ext cx="109692" cy="257293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Arrow: Right 47">
                <a:extLst>
                  <a:ext uri="{FF2B5EF4-FFF2-40B4-BE49-F238E27FC236}">
                    <a16:creationId xmlns:a16="http://schemas.microsoft.com/office/drawing/2014/main" id="{A6584FBF-DD1F-646D-6FCD-F9449E4D058A}"/>
                  </a:ext>
                </a:extLst>
              </p:cNvPr>
              <p:cNvSpPr/>
              <p:nvPr/>
            </p:nvSpPr>
            <p:spPr>
              <a:xfrm flipH="1">
                <a:off x="7473058" y="3866415"/>
                <a:ext cx="435438" cy="300844"/>
              </a:xfrm>
              <a:prstGeom prst="rightArrow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Arrow: Right 48">
                <a:extLst>
                  <a:ext uri="{FF2B5EF4-FFF2-40B4-BE49-F238E27FC236}">
                    <a16:creationId xmlns:a16="http://schemas.microsoft.com/office/drawing/2014/main" id="{11EA232C-40F0-8382-1307-E95054E6521B}"/>
                  </a:ext>
                </a:extLst>
              </p:cNvPr>
              <p:cNvSpPr/>
              <p:nvPr/>
            </p:nvSpPr>
            <p:spPr>
              <a:xfrm flipH="1">
                <a:off x="7473058" y="4519560"/>
                <a:ext cx="435438" cy="300844"/>
              </a:xfrm>
              <a:prstGeom prst="rightArrow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Arrow: Right 49">
                <a:extLst>
                  <a:ext uri="{FF2B5EF4-FFF2-40B4-BE49-F238E27FC236}">
                    <a16:creationId xmlns:a16="http://schemas.microsoft.com/office/drawing/2014/main" id="{BB9FC9BC-3199-F6C3-5A76-8FC63348CF1E}"/>
                  </a:ext>
                </a:extLst>
              </p:cNvPr>
              <p:cNvSpPr/>
              <p:nvPr/>
            </p:nvSpPr>
            <p:spPr>
              <a:xfrm flipH="1">
                <a:off x="7473054" y="5140043"/>
                <a:ext cx="435438" cy="300844"/>
              </a:xfrm>
              <a:prstGeom prst="rightArrow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0BF8B4E-553C-7C7B-29C9-F4E4133D3A44}"/>
                  </a:ext>
                </a:extLst>
              </p:cNvPr>
              <p:cNvSpPr/>
              <p:nvPr/>
            </p:nvSpPr>
            <p:spPr>
              <a:xfrm>
                <a:off x="5712275" y="3850519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Reactive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AB2E679-CB90-2718-3EDC-9BAF0DEB6D06}"/>
                  </a:ext>
                </a:extLst>
              </p:cNvPr>
              <p:cNvSpPr/>
              <p:nvPr/>
            </p:nvSpPr>
            <p:spPr>
              <a:xfrm>
                <a:off x="5698697" y="5115243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Theory of Mind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D936E75-BEEC-B589-DB3F-C0B4FBBAB73D}"/>
                  </a:ext>
                </a:extLst>
              </p:cNvPr>
              <p:cNvSpPr/>
              <p:nvPr/>
            </p:nvSpPr>
            <p:spPr>
              <a:xfrm>
                <a:off x="5725881" y="4524508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Limit Memory</a:t>
                </a:r>
              </a:p>
            </p:txBody>
          </p:sp>
          <p:sp>
            <p:nvSpPr>
              <p:cNvPr id="55" name="Arrow: Right 54">
                <a:extLst>
                  <a:ext uri="{FF2B5EF4-FFF2-40B4-BE49-F238E27FC236}">
                    <a16:creationId xmlns:a16="http://schemas.microsoft.com/office/drawing/2014/main" id="{D54D1EFA-6967-6B73-DA6A-1EF43AE599BE}"/>
                  </a:ext>
                </a:extLst>
              </p:cNvPr>
              <p:cNvSpPr/>
              <p:nvPr/>
            </p:nvSpPr>
            <p:spPr>
              <a:xfrm flipH="1">
                <a:off x="7483942" y="5695215"/>
                <a:ext cx="435438" cy="300844"/>
              </a:xfrm>
              <a:prstGeom prst="rightArrow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76065F1-C874-0F44-C760-AC83DBF49954}"/>
                  </a:ext>
                </a:extLst>
              </p:cNvPr>
              <p:cNvSpPr/>
              <p:nvPr/>
            </p:nvSpPr>
            <p:spPr>
              <a:xfrm>
                <a:off x="5731351" y="5692188"/>
                <a:ext cx="1744439" cy="30084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Self Awareness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294368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8F48-89BA-EDA7-4D34-5A463B26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3C9AA-DF3B-1821-166C-0BE63FCFA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AI is also called as weak AI.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 can perform the only one task which is assigned by the programmer.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tasking cannot be did with this AI where the model will be trained for only one work.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not able to learn new things.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1.Roomba can only clean the floors they cannot drive a car.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2.Chat bot can interact with persons but cannot clean a room.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y Choose Robot Vacuum Cleaners for ...">
            <a:extLst>
              <a:ext uri="{FF2B5EF4-FFF2-40B4-BE49-F238E27FC236}">
                <a16:creationId xmlns:a16="http://schemas.microsoft.com/office/drawing/2014/main" id="{97F791E4-862F-7179-B102-C03A7F3EA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27" y="5127901"/>
            <a:ext cx="2750682" cy="152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03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120F-BB5C-6079-AAAC-0C3D15D9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24AF8-5FE1-1056-2489-919366192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ai are able to do multiple works like driving ,cooking, cleaning etc.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learn new things from their mistakes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also called as strong AI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AI is under the innovation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1.Sophia humanoid robot</a:t>
            </a:r>
          </a:p>
        </p:txBody>
      </p:sp>
      <p:pic>
        <p:nvPicPr>
          <p:cNvPr id="2050" name="Picture 2" descr="Sophia the Robot: All You Need to Know">
            <a:extLst>
              <a:ext uri="{FF2B5EF4-FFF2-40B4-BE49-F238E27FC236}">
                <a16:creationId xmlns:a16="http://schemas.microsoft.com/office/drawing/2014/main" id="{3EA8C811-B759-0ED0-B10A-0F6E1041C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044" y="2600846"/>
            <a:ext cx="2699656" cy="239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16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D8BB-17B9-C54B-31F3-F53B49C7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51E6-E54A-8799-FB8E-E0EB5FFF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395" y="2197327"/>
            <a:ext cx="8316686" cy="2463346"/>
          </a:xfrm>
        </p:spPr>
        <p:txBody>
          <a:bodyPr/>
          <a:lstStyle/>
          <a:p>
            <a:r>
              <a:rPr lang="en-IN" dirty="0"/>
              <a:t>Super AI are the robots which have more advanced features then the general Ai.</a:t>
            </a:r>
          </a:p>
          <a:p>
            <a:r>
              <a:rPr lang="en-IN" dirty="0"/>
              <a:t>They are not in reality but can be invented in future </a:t>
            </a:r>
          </a:p>
          <a:p>
            <a:r>
              <a:rPr lang="en-IN" dirty="0"/>
              <a:t>They are not still now invented but they are written as theory</a:t>
            </a:r>
          </a:p>
          <a:p>
            <a:r>
              <a:rPr lang="en-IN" dirty="0"/>
              <a:t>In theory part it is said that they have feelings and emotions</a:t>
            </a:r>
          </a:p>
        </p:txBody>
      </p:sp>
    </p:spTree>
    <p:extLst>
      <p:ext uri="{BB962C8B-B14F-4D97-AF65-F5344CB8AC3E}">
        <p14:creationId xmlns:p14="http://schemas.microsoft.com/office/powerpoint/2010/main" val="358187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07A8-7013-43C9-7C67-1EF13FDF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9" y="1702539"/>
            <a:ext cx="3165231" cy="4796391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Machine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7BE32-FF37-AA75-6188-240068B4F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4942" y="1279664"/>
            <a:ext cx="8382002" cy="564213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machine is a type of AI which does not have any memory or they cannot store any errors or things 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machine comes under narrow ai.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Room cleaning robot, Spam mail , Vending machine  etc..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Reactive Machines: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Memory: They operate solely on the current input and lack the ability to store or use past information or experiences.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Pre-programmed Rules: Their behavior is governed by predefined rules and algorithms, not by learning or adapting.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Task Focus: Reactive machines are designed to perform a single, well-defined task.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9D2709-DF54-1EBA-E666-E7E322192074}"/>
              </a:ext>
            </a:extLst>
          </p:cNvPr>
          <p:cNvSpPr txBox="1">
            <a:spLocks/>
          </p:cNvSpPr>
          <p:nvPr/>
        </p:nvSpPr>
        <p:spPr>
          <a:xfrm>
            <a:off x="3624942" y="4100735"/>
            <a:ext cx="7881257" cy="152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A22061-8FDE-8FB5-F211-248370117010}"/>
              </a:ext>
            </a:extLst>
          </p:cNvPr>
          <p:cNvSpPr txBox="1">
            <a:spLocks/>
          </p:cNvSpPr>
          <p:nvPr/>
        </p:nvSpPr>
        <p:spPr>
          <a:xfrm>
            <a:off x="3777342" y="4253135"/>
            <a:ext cx="7881257" cy="152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17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5008-8C08-853C-86DF-970F4628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FB3DC-E5DC-9439-F2D3-693C02156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498" y="1123837"/>
            <a:ext cx="7315200" cy="5120640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memory is a kind of AI which can store a little amount of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memory also comes under the narrow ai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Self driving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cars,etc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Limited Memory AI: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Data Storage : Limited memory AI systems store information only long enough to complete a task effectively. This contrasts with long-term memory, which can store information for extended periods.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Decision-Making : These systems excel at processing and reacting to new information quickly, making them suitable for applications requiring immediate responses, such as autonomous vehicles navigating traffic.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: Limited memory AI can adapt to changing situations by incorporating newly acquired data into its decision-making process.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Model: Limited memory AI often relies on machine learning algorithms, such as supervised or unsupervised learning, to analyze data and improve performance over time. 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53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A0C5-7DDE-31D2-231E-68441B9C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Mind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 Awareness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A2E68-CACB-1970-DA40-CE6C2607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9675" y="902677"/>
            <a:ext cx="8059617" cy="6330460"/>
          </a:xfrm>
        </p:spPr>
        <p:txBody>
          <a:bodyPr>
            <a:normAutofit/>
          </a:bodyPr>
          <a:lstStyle/>
          <a:p>
            <a:r>
              <a:rPr lang="en-IN" dirty="0"/>
              <a:t>Theory of mind comes under the general ai.</a:t>
            </a:r>
          </a:p>
          <a:p>
            <a:r>
              <a:rPr lang="en-IN" dirty="0"/>
              <a:t>They can work in their own and learn new things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Self awareness comes under the super ai</a:t>
            </a:r>
          </a:p>
          <a:p>
            <a:r>
              <a:rPr lang="en-IN" dirty="0"/>
              <a:t>They can work in their own and learn new things</a:t>
            </a:r>
          </a:p>
          <a:p>
            <a:r>
              <a:rPr lang="en-IN" dirty="0"/>
              <a:t>They behave like humans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16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D365-7D29-6784-EFDA-36A65F15D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0" y="590876"/>
            <a:ext cx="7315200" cy="3255264"/>
          </a:xfrm>
        </p:spPr>
        <p:txBody>
          <a:bodyPr/>
          <a:lstStyle/>
          <a:p>
            <a:r>
              <a:rPr lang="en-IN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6633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677D-A307-9EDC-D793-C2B84968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Machine Learning </a:t>
            </a:r>
            <a:br>
              <a:rPr lang="en-IN" dirty="0"/>
            </a:br>
            <a:r>
              <a:rPr lang="en-IN" dirty="0"/>
              <a:t>Types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C649CF-DF02-8F5D-D697-E7ED7A8D6221}"/>
              </a:ext>
            </a:extLst>
          </p:cNvPr>
          <p:cNvGrpSpPr/>
          <p:nvPr/>
        </p:nvGrpSpPr>
        <p:grpSpPr>
          <a:xfrm>
            <a:off x="4581614" y="1123837"/>
            <a:ext cx="6400797" cy="2609965"/>
            <a:chOff x="4581614" y="1123837"/>
            <a:chExt cx="6400797" cy="26099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01FBE17-AD14-99D8-C124-5F368C9E3465}"/>
                </a:ext>
              </a:extLst>
            </p:cNvPr>
            <p:cNvSpPr/>
            <p:nvPr/>
          </p:nvSpPr>
          <p:spPr>
            <a:xfrm>
              <a:off x="6281057" y="1123837"/>
              <a:ext cx="2947482" cy="9117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ML</a:t>
              </a:r>
            </a:p>
          </p:txBody>
        </p:sp>
        <p:sp>
          <p:nvSpPr>
            <p:cNvPr id="5" name="Arrow: Bent 4">
              <a:extLst>
                <a:ext uri="{FF2B5EF4-FFF2-40B4-BE49-F238E27FC236}">
                  <a16:creationId xmlns:a16="http://schemas.microsoft.com/office/drawing/2014/main" id="{7C25FD74-6B06-1526-216D-256A0032460E}"/>
                </a:ext>
              </a:extLst>
            </p:cNvPr>
            <p:cNvSpPr/>
            <p:nvPr/>
          </p:nvSpPr>
          <p:spPr>
            <a:xfrm rot="5400000">
              <a:off x="9076758" y="1753283"/>
              <a:ext cx="1459992" cy="1112891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6" name="Arrow: Bent 5">
              <a:extLst>
                <a:ext uri="{FF2B5EF4-FFF2-40B4-BE49-F238E27FC236}">
                  <a16:creationId xmlns:a16="http://schemas.microsoft.com/office/drawing/2014/main" id="{82D5ADB4-259B-9508-B243-C9BF5298CEF7}"/>
                </a:ext>
              </a:extLst>
            </p:cNvPr>
            <p:cNvSpPr/>
            <p:nvPr/>
          </p:nvSpPr>
          <p:spPr>
            <a:xfrm rot="5400000" flipV="1">
              <a:off x="4993844" y="1769964"/>
              <a:ext cx="1479290" cy="1060235"/>
            </a:xfrm>
            <a:prstGeom prst="bentArrow">
              <a:avLst>
                <a:gd name="adj1" fmla="val 25000"/>
                <a:gd name="adj2" fmla="val 27489"/>
                <a:gd name="adj3" fmla="val 25000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70F86195-C87D-8B3B-96C6-89E40EEF35A6}"/>
                </a:ext>
              </a:extLst>
            </p:cNvPr>
            <p:cNvSpPr/>
            <p:nvPr/>
          </p:nvSpPr>
          <p:spPr>
            <a:xfrm>
              <a:off x="7580623" y="2068287"/>
              <a:ext cx="457200" cy="1004096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289B09-1780-CA13-7B37-F0F1D494033B}"/>
                </a:ext>
              </a:extLst>
            </p:cNvPr>
            <p:cNvSpPr/>
            <p:nvPr/>
          </p:nvSpPr>
          <p:spPr>
            <a:xfrm>
              <a:off x="4581614" y="3083269"/>
              <a:ext cx="1752600" cy="628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supervised learning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382706-4787-C886-FAA9-FA0C9C0CB0E2}"/>
                </a:ext>
              </a:extLst>
            </p:cNvPr>
            <p:cNvSpPr/>
            <p:nvPr/>
          </p:nvSpPr>
          <p:spPr>
            <a:xfrm>
              <a:off x="6922042" y="3105042"/>
              <a:ext cx="1752600" cy="628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unsupervised learning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E71C28-4232-4DCD-41D8-685864517620}"/>
                </a:ext>
              </a:extLst>
            </p:cNvPr>
            <p:cNvSpPr/>
            <p:nvPr/>
          </p:nvSpPr>
          <p:spPr>
            <a:xfrm>
              <a:off x="9229811" y="3083269"/>
              <a:ext cx="1752600" cy="628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reinforcement learning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340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597C-DAE6-8D7B-4A7B-028CAE2B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Supervised Learning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D71F4A-9B02-C609-D8C1-B915B5BF8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7240" y="1178414"/>
            <a:ext cx="6842274" cy="4501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learning involves training a model on a labeled dataset, where each data point has a corresponding target or output value.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learn a mapping function from inputs to outputs, enabling the model to predict the output for new, unseen inputs.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supervised learning algorithms include linear regression, logistic regression, and decision trees.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tasks include classification (e.g., spam detection) and regression (e.g., predicting house prices).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572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C464-76E5-F214-74E2-87F483BB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Unsupervised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605CC0-1CEA-AADE-6EFA-08CFDBEF6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1019954"/>
            <a:ext cx="7016446" cy="4808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unsupervised learning, the model is trained on an unlabeled dataset, and the goal is to discover patterns, structures, or relationships within the data.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not predefined target values, and the model learns to group similar data points together (clustering) or reduce the dimensionality of the data.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like k-means and hierarchical clustering are examples of unsupervised learning.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used for tasks like customer segmentation, anomaly detection, and dimensionality reduction.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3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01B2-9740-94A7-F475-813F744B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Reinforcement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C7C9CB-64F5-3F9C-9C20-2A5E3B2EC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7" y="1327731"/>
            <a:ext cx="7985275" cy="41933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involves training an agent to make decisions in an environment to maximize a reward signal.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agent learns through trial and error, receiving feedback in the form of rewards or penalties for its actions.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is used in robotics, game playing, and control systems.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reinforcement learning algorithms include Q-learning and policy gradients.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6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3042-3070-222B-BA78-C6533E0A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Machine Learning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6A409-AE67-03D9-046A-706D44F1D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72946-4047-1F76-38FA-A43FACAC53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EE3BA-EB44-55DA-EDF9-92A26081C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88414-2979-C930-1958-007A5153D6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623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EB0B-8220-868B-4F17-DD9739512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627" y="2068285"/>
            <a:ext cx="5086677" cy="1777855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028591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958</TotalTime>
  <Words>846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Corbel</vt:lpstr>
      <vt:lpstr>Times New Roman</vt:lpstr>
      <vt:lpstr>Wingdings 2</vt:lpstr>
      <vt:lpstr>Frame</vt:lpstr>
      <vt:lpstr>AI &amp; ML </vt:lpstr>
      <vt:lpstr>Artificial Intelligence</vt:lpstr>
      <vt:lpstr>Artificial Intelligence</vt:lpstr>
      <vt:lpstr>Types of  AI</vt:lpstr>
      <vt:lpstr>Narrow AI</vt:lpstr>
      <vt:lpstr>General </vt:lpstr>
      <vt:lpstr>Super</vt:lpstr>
      <vt:lpstr>Reactive Machine    </vt:lpstr>
      <vt:lpstr>Limit Memory</vt:lpstr>
      <vt:lpstr>Theory of Mind   Self  Awareness </vt:lpstr>
      <vt:lpstr>Machine Learning</vt:lpstr>
      <vt:lpstr>Machine Learning  Types</vt:lpstr>
      <vt:lpstr>Supervised Learning</vt:lpstr>
      <vt:lpstr>Unsupervised Learning</vt:lpstr>
      <vt:lpstr>Reinforcement Learning</vt:lpstr>
      <vt:lpstr>Machine Learning Algorithm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vivin kumaresan</dc:creator>
  <cp:lastModifiedBy>vivin kumaresan</cp:lastModifiedBy>
  <cp:revision>13</cp:revision>
  <dcterms:created xsi:type="dcterms:W3CDTF">2025-07-06T05:22:28Z</dcterms:created>
  <dcterms:modified xsi:type="dcterms:W3CDTF">2025-07-11T18:16:17Z</dcterms:modified>
</cp:coreProperties>
</file>